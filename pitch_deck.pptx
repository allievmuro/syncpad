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8288" cy="685800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274320"/>
            <a:ext cx="1371600" cy="731520"/>
          </a:xfrm>
          <a:prstGeom prst="rect">
            <a:avLst/>
          </a:prstGeom>
          <a:solidFill>
            <a:srgbClr val="0D1A0D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347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41"/>
                </a:solidFill>
                <a:latin typeface="Consolas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5669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F5FF"/>
                </a:solidFill>
                <a:latin typeface="Consolas"/>
              </a:rPr>
              <a:t>TON NETWORK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"/>
            <a:ext cx="1097280" cy="365760"/>
          </a:xfrm>
          <a:prstGeom prst="rect">
            <a:avLst/>
          </a:prstGeom>
          <a:solidFill>
            <a:srgbClr val="0D1A0D"/>
          </a:solidFill>
          <a:ln w="1016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301752"/>
            <a:ext cx="1060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F5FF"/>
                </a:solidFill>
                <a:latin typeface="Consolas"/>
              </a:rPr>
              <a:t>&gt; AI / 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4572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4572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66960" y="4572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4572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0" y="4572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10058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10058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0058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10058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98480" y="10058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0" y="10058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5544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0" y="15544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5544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15544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98480" y="15544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15544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21031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21031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21031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6960" y="21031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98480" y="21031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0" y="21031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265176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03920" y="265176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265176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66960" y="265176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98480" y="265176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0" y="265176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32004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03920" y="32004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32004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66960" y="32004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98480" y="32004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0" y="32004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74903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03920" y="374903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374903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66960" y="374903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98480" y="374903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0" y="374903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976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03920" y="42976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42976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66960" y="42976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98480" y="42976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0" y="429768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72400" y="48463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503920" y="48463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5440" y="48463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66960" y="48463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98480" y="48463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430000" y="484632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72400" y="539495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03920" y="539495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539495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66960" y="539495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698480" y="539495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0" y="5394959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0" y="59436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03920" y="59436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35440" y="59436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966960" y="59436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698480" y="59436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430000" y="594360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72400" y="64922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03920" y="64922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35440" y="64922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66960" y="64922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98480" y="64922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430000" y="6492240"/>
            <a:ext cx="45720" cy="4572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00FF41"/>
                </a:solidFill>
                <a:latin typeface="Consolas"/>
              </a:rPr>
              <a:t>SYNCPAD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2834640"/>
            <a:ext cx="228600" cy="8229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30632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FFC8"/>
                </a:solidFill>
                <a:latin typeface="Calibri"/>
              </a:rPr>
              <a:t>TON-native encrypted memory persistence for AI agents inside Telegram mini-apps.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4160520"/>
            <a:ext cx="8229600" cy="228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004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7A4A"/>
                </a:solidFill>
                <a:latin typeface="Consolas"/>
              </a:rPr>
              <a:t>_category: AI    _chain: TON    _stage: PROTOTYPE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47548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FFC8"/>
                </a:solidFill>
                <a:latin typeface="Calibri"/>
              </a:rPr>
              <a:t>Encrypted wallet-keyed memory persistence for AI agents on Telegram mini-apps — sovereign, auditable, and $0.001 per commit.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0" y="6400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0FF41"/>
                </a:solidFill>
                <a:latin typeface="Consolas"/>
              </a:rPr>
              <a:t>$ ./syncpad --init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12152376" cy="100584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41"/>
                </a:solidFill>
                <a:latin typeface="Consolas"/>
              </a:rPr>
              <a:t>01 //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11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8FFC8"/>
                </a:solidFill>
                <a:latin typeface="Consolas"/>
              </a:rPr>
              <a:t>THE STATELESSNESS CRISIS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0" y="0"/>
            <a:ext cx="36576" cy="685800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3749039" cy="173736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F41"/>
                </a:solidFill>
                <a:latin typeface="Consolas"/>
              </a:rPr>
              <a:t>500M+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Telegram mini-app MAUs — all running stateless AI with zero memory persistence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749039" cy="173736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234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5FF"/>
                </a:solidFill>
                <a:latin typeface="Consola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Native on-chain memory primitives in the TON ecosystem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737360"/>
          </a:xfrm>
          <a:prstGeom prst="rect">
            <a:avLst/>
          </a:prstGeom>
          <a:solidFill>
            <a:srgbClr val="060F06"/>
          </a:solidFill>
          <a:ln w="1524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234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6B35"/>
                </a:solidFill>
                <a:latin typeface="Consolas"/>
              </a:rPr>
              <a:t>~$180/mo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20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Minimum AWS RDS cost to persist per-user AI context at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108960"/>
            <a:ext cx="11731752" cy="22860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41"/>
                </a:solidFill>
                <a:latin typeface="Consolas"/>
              </a:rPr>
              <a:t>&gt; ROOT CAUSE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703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FFC8"/>
                </a:solidFill>
                <a:latin typeface="Calibri"/>
              </a:rPr>
              <a:t>&gt; AI agents inside Telegram bots lose all user context between sessions — every conversation starts cold.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32511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FFC8"/>
                </a:solidFill>
                <a:latin typeface="Calibri"/>
              </a:rPr>
              <a:t>&gt; Developers resort to centralized databases, creating honeypots, GDPR liability, and single points of failure.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94690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FFC8"/>
                </a:solidFill>
                <a:latin typeface="Calibri"/>
              </a:rPr>
              <a:t>&gt; TON's cell-based data model has no application-layer memory standard — each team reinvents the wheel.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568696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FFC8"/>
                </a:solidFill>
                <a:latin typeface="Calibri"/>
              </a:rPr>
              <a:t>&gt; Users have zero visibility into what data AI apps retain about them — and no mechanism to revoke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4389120" cy="68580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2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02 //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40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00FF41"/>
                </a:solidFill>
                <a:latin typeface="Consolas"/>
              </a:rPr>
              <a:t>SYNC
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92608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FFC8"/>
                </a:solidFill>
                <a:latin typeface="Calibri"/>
              </a:rPr>
              <a:t>Encrypted Memory
Persistence Layer
for AI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4572000"/>
            <a:ext cx="3931920" cy="1828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4709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F5FF"/>
                </a:solidFill>
                <a:latin typeface="Consolas"/>
              </a:rPr>
              <a:t>$0.001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892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per memory
commit on 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5577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A4A"/>
                </a:solidFill>
                <a:latin typeface="Consolas"/>
              </a:rPr>
              <a:t>AES-256-GCM · FunC · TON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8288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41"/>
                </a:solidFill>
                <a:latin typeface="Consolas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621792"/>
            <a:ext cx="7040880" cy="228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868680"/>
            <a:ext cx="7040880" cy="1280160"/>
          </a:xfrm>
          <a:prstGeom prst="rect">
            <a:avLst/>
          </a:prstGeom>
          <a:solidFill>
            <a:srgbClr val="060F06"/>
          </a:solidFill>
          <a:ln w="889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868680"/>
            <a:ext cx="502920" cy="128016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9418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5FF"/>
                </a:solidFill>
                <a:latin typeface="Consolas"/>
              </a:rPr>
              <a:t>ENCRYPT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325880"/>
            <a:ext cx="6263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AI agent context is encrypted client-side using AES-256-GCM keyed to the user's TON wallet. Zero plaintext ever leaves the device.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286000"/>
            <a:ext cx="7040880" cy="1280160"/>
          </a:xfrm>
          <a:prstGeom prst="rect">
            <a:avLst/>
          </a:prstGeom>
          <a:solidFill>
            <a:srgbClr val="060F06"/>
          </a:solidFill>
          <a:ln w="889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2286000"/>
            <a:ext cx="502920" cy="128016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2359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5FF"/>
                </a:solidFill>
                <a:latin typeface="Consolas"/>
              </a:rPr>
              <a:t>ANCHOR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743200"/>
            <a:ext cx="6263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Encrypted blob is committed to TON Storage. A content hash is written to a FunC smart contract, emitting a verifiable on-chain write event.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703320"/>
            <a:ext cx="7040880" cy="1280160"/>
          </a:xfrm>
          <a:prstGeom prst="rect">
            <a:avLst/>
          </a:prstGeom>
          <a:solidFill>
            <a:srgbClr val="060F06"/>
          </a:solidFill>
          <a:ln w="889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3703320"/>
            <a:ext cx="502920" cy="128016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776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5FF"/>
                </a:solidFill>
                <a:latin typeface="Consolas"/>
              </a:rPr>
              <a:t>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160520"/>
            <a:ext cx="6263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Any authorized mini-app calls syncpad.read() via our TypeScript SDK and gets back decrypted, versioned context — in one function call.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5120640"/>
            <a:ext cx="7040880" cy="1280160"/>
          </a:xfrm>
          <a:prstGeom prst="rect">
            <a:avLst/>
          </a:prstGeom>
          <a:solidFill>
            <a:srgbClr val="060F06"/>
          </a:solidFill>
          <a:ln w="889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46320" y="5120640"/>
            <a:ext cx="502920" cy="128016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5193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5FF"/>
                </a:solidFill>
                <a:latin typeface="Consolas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577840"/>
            <a:ext cx="6263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Users inspect their full memory audit log, set TTLs on shards, and revoke any app's access instantly via a signed TON transaction.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12152376" cy="914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03 // WHY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FC8"/>
                </a:solidFill>
                <a:latin typeface="Consolas"/>
              </a:rPr>
              <a:t>THE WINDOW IS OPEN — AND CLOSING FAST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1005840"/>
            <a:ext cx="1188720" cy="5486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1188720"/>
            <a:ext cx="1463040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81360" y="1371600"/>
            <a:ext cx="1097280" cy="36576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097280"/>
            <a:ext cx="5806440" cy="242316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097280"/>
            <a:ext cx="5806440" cy="64008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261872"/>
            <a:ext cx="5440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5FF"/>
                </a:solidFill>
                <a:latin typeface="Consolas"/>
              </a:rPr>
              <a:t>TELEGRAM MINI-APP EXPLOSION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755648"/>
            <a:ext cx="5440679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01952"/>
            <a:ext cx="54406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Over 500M monthly active users now accessible via Telegram mini-apps. TON's native payments mean AI agents can transact and remember — if memory existed.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5806440" cy="242316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806440" cy="6400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61872"/>
            <a:ext cx="5440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41"/>
                </a:solidFill>
                <a:latin typeface="Consolas"/>
              </a:rPr>
              <a:t>AI AGENT INFRASTRUCTURE MOMENT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755648"/>
            <a:ext cx="5440679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01952"/>
            <a:ext cx="54406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2025 is the year of agent tooling. Every AI framework from LangChain to AutoGPT is seeking persistent memory backends. Syncpad is the TON-native answer.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49039"/>
            <a:ext cx="5806440" cy="242316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749039"/>
            <a:ext cx="5806440" cy="64008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913631"/>
            <a:ext cx="5440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41"/>
                </a:solidFill>
                <a:latin typeface="Consolas"/>
              </a:rPr>
              <a:t>TON STORAGE IS PRODUCTION-READY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407407"/>
            <a:ext cx="5440679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53712"/>
            <a:ext cx="54406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TON Storage and TON Connect 2.0 reached production maturity in 2024. The primitives Syncpad needs are live — no infrastructure bets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49039"/>
            <a:ext cx="5806440" cy="242316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749039"/>
            <a:ext cx="5806440" cy="64008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913631"/>
            <a:ext cx="5440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5FF"/>
                </a:solidFill>
                <a:latin typeface="Consolas"/>
              </a:rPr>
              <a:t>REGULATORY TAILWIND FOR SOVEREIGNTY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407407"/>
            <a:ext cx="5440679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553712"/>
            <a:ext cx="54406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GDPR, DSA, and global data sovereignty mandates are pushing devs away from centralized DBs. On-chain, user-owned memory is a compliance feature, not a tradeoff.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12152376" cy="914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04 // 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FC8"/>
                </a:solidFill>
                <a:latin typeface="Consolas"/>
              </a:rPr>
              <a:t>A PLATFORM-SCALE MEMORY PRIMITIVE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3200400"/>
          </a:xfrm>
          <a:prstGeom prst="rect">
            <a:avLst/>
          </a:prstGeom>
          <a:solidFill>
            <a:srgbClr val="060F0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051560"/>
            <a:ext cx="3749039" cy="50292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15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FF41"/>
                </a:solidFill>
                <a:latin typeface="Consolas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91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FF41"/>
                </a:solidFill>
                <a:latin typeface="Consolas"/>
              </a:rPr>
              <a:t>$47B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34640"/>
            <a:ext cx="338328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944368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Global AI infrastructure &amp; memory market by 2028 — all AI systems require persistent context at scale.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051560"/>
            <a:ext cx="3749039" cy="3200400"/>
          </a:xfrm>
          <a:prstGeom prst="rect">
            <a:avLst/>
          </a:prstGeom>
          <a:solidFill>
            <a:srgbClr val="060F06"/>
          </a:solidFill>
          <a:ln w="1905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051560"/>
            <a:ext cx="3749039" cy="50292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15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F5FF"/>
                </a:solidFill>
                <a:latin typeface="Consolas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691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0F5FF"/>
                </a:solidFill>
                <a:latin typeface="Consolas"/>
              </a:rPr>
              <a:t>$3.2B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834640"/>
            <a:ext cx="338328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944368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Telegram mini-app AI tooling &amp; Web3 developer infrastructure market across TON and adjacent chains.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051560"/>
            <a:ext cx="3749039" cy="3200400"/>
          </a:xfrm>
          <a:prstGeom prst="rect">
            <a:avLst/>
          </a:prstGeom>
          <a:solidFill>
            <a:srgbClr val="060F06"/>
          </a:solidFill>
          <a:ln w="1905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051560"/>
            <a:ext cx="3749039" cy="50292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1115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9FF14"/>
                </a:solidFill>
                <a:latin typeface="Consolas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9FF14"/>
                </a:solidFill>
                <a:latin typeface="Consolas"/>
              </a:rPr>
              <a:t>$180M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59" y="2834640"/>
            <a:ext cx="338328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59" y="2944368"/>
            <a:ext cx="3383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Serviceable obtainable: 500K active TON mini-app wallets × avg $0.36/month in memory commits by 2027.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480560"/>
            <a:ext cx="11731752" cy="1737360"/>
          </a:xfrm>
          <a:prstGeom prst="rect">
            <a:avLst/>
          </a:prstGeom>
          <a:solidFill>
            <a:srgbClr val="0D1A0D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FF41"/>
                </a:solidFill>
                <a:latin typeface="Consolas"/>
              </a:rPr>
              <a:t>&gt; UNIT ECONOMICS AT TELEGRAM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500M Telegram mini-app MAUs  ×  5% TON wallet penetration  =  25M addressable wallets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94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$0.001 per memory commit  ×  avg 30 commits/user/month  =  $0.03 ARPU/month gross infrastructure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Developer SDK subscription model: $29–$299/month per app team  →  high-margin recurring SaaS on top of protocol fees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3474720" cy="68580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2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05 //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5943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41"/>
                </a:solidFill>
                <a:latin typeface="Consolas"/>
              </a:rPr>
              <a:t>PRODUCT
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331720"/>
            <a:ext cx="3017520" cy="228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24688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FFC8"/>
                </a:solidFill>
                <a:latin typeface="Calibri"/>
              </a:rPr>
              <a:t>Five sovereign primitives that no other TON project ships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4048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4A7A4A"/>
                </a:solidFill>
                <a:latin typeface="Consolas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FF41"/>
                </a:solidFill>
                <a:latin typeface="Consolas"/>
              </a:rPr>
              <a:t>CORE
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37160"/>
            <a:ext cx="3931920" cy="2057400"/>
          </a:xfrm>
          <a:prstGeom prst="rect">
            <a:avLst/>
          </a:prstGeom>
          <a:solidFill>
            <a:srgbClr val="060F06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37160"/>
            <a:ext cx="457200" cy="2057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59" y="8686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28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ENCRYPTED SHARDS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667512"/>
            <a:ext cx="320040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795528"/>
            <a:ext cx="3246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Wallet-keyed AES-256-GCM blobs stored as versioned TON cells with on-chain content hash anchoring.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37160"/>
            <a:ext cx="3931920" cy="2057400"/>
          </a:xfrm>
          <a:prstGeom prst="rect">
            <a:avLst/>
          </a:prstGeom>
          <a:solidFill>
            <a:srgbClr val="060F06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37160"/>
            <a:ext cx="457200" cy="2057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8686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28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3-FUNCTION SDK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667512"/>
            <a:ext cx="320040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795528"/>
            <a:ext cx="3246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write(), read(), diff() — integrate persistent AI memory into any Telegram mini-app in under 30 minutes.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2423160"/>
            <a:ext cx="3931920" cy="2057400"/>
          </a:xfrm>
          <a:prstGeom prst="rect">
            <a:avLst/>
          </a:prstGeom>
          <a:solidFill>
            <a:srgbClr val="060F06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2423160"/>
            <a:ext cx="457200" cy="2057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31546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2514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AUDIT LOG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2953512"/>
            <a:ext cx="320040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081528"/>
            <a:ext cx="3246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On-chain write events let users inspect every app that has ever touched their memory profile.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2423160"/>
            <a:ext cx="3931920" cy="2057400"/>
          </a:xfrm>
          <a:prstGeom prst="rect">
            <a:avLst/>
          </a:prstGeom>
          <a:solidFill>
            <a:srgbClr val="060F06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2423160"/>
            <a:ext cx="457200" cy="2057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1546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514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CROSS-APP PORTABILITY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2953512"/>
            <a:ext cx="320040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3081528"/>
            <a:ext cx="3246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User context from one mini-app is accessible to another with explicit wallet-signed consent transactions.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16168" y="4709160"/>
            <a:ext cx="3931920" cy="2057400"/>
          </a:xfrm>
          <a:prstGeom prst="rect">
            <a:avLst/>
          </a:prstGeom>
          <a:solidFill>
            <a:srgbClr val="060F06"/>
          </a:solidFill>
          <a:ln w="1016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16168" y="4709160"/>
            <a:ext cx="457200" cy="2057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54406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FF41"/>
                </a:solidFill>
                <a:latin typeface="Consola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7" y="48006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TTL &amp; REVOCATION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64807" y="5239512"/>
            <a:ext cx="320040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7" y="5367528"/>
            <a:ext cx="3246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Set expiry on any memory shard or instantly revoke an app's read access via a signed TON transaction.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12152376" cy="100584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06 // 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FFC8"/>
                </a:solidFill>
                <a:latin typeface="Consolas"/>
              </a:rPr>
              <a:t>BUILT NATIVE TO TON — NO BRIDGES, NO COMPROMISES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11731752" cy="155448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2011680" cy="155448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45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F5FF"/>
                </a:solidFill>
                <a:latin typeface="Consolas"/>
              </a:rPr>
              <a:t>USER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55448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645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TON Connect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5448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645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5FF"/>
                </a:solidFill>
                <a:latin typeface="Consolas"/>
              </a:rPr>
              <a:t>Telegram Mini App WebView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743200"/>
            <a:ext cx="118872" cy="182880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880360"/>
            <a:ext cx="11731752" cy="155448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880360"/>
            <a:ext cx="2011680" cy="155448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3832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FF41"/>
                </a:solidFill>
                <a:latin typeface="Consolas"/>
              </a:rPr>
              <a:t>APPLICATION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329184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41"/>
                </a:solidFill>
                <a:latin typeface="Consolas"/>
              </a:rPr>
              <a:t>TypeScript SDK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29184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41"/>
                </a:solidFill>
                <a:latin typeface="Consolas"/>
              </a:rPr>
              <a:t>Node.js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329184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41"/>
                </a:solidFill>
                <a:latin typeface="Consolas"/>
              </a:rPr>
              <a:t>AES-256-GCM Encryption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480559"/>
            <a:ext cx="118872" cy="18288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617720"/>
            <a:ext cx="11731752" cy="1554480"/>
          </a:xfrm>
          <a:prstGeom prst="rect">
            <a:avLst/>
          </a:prstGeom>
          <a:solidFill>
            <a:srgbClr val="060F06"/>
          </a:solidFill>
          <a:ln w="1270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4617720"/>
            <a:ext cx="2011680" cy="155448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120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9FF14"/>
                </a:solidFill>
                <a:latin typeface="Consolas"/>
              </a:rPr>
              <a:t>PROTOCOL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502920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FF14"/>
                </a:solidFill>
                <a:latin typeface="Consolas"/>
              </a:rPr>
              <a:t>TON FunC Smart Contracts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502920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FF14"/>
                </a:solidFill>
                <a:latin typeface="Consolas"/>
              </a:rPr>
              <a:t>TL-B Schema / Cell Serialization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5029200"/>
            <a:ext cx="2926080" cy="640080"/>
          </a:xfrm>
          <a:prstGeom prst="rect">
            <a:avLst/>
          </a:prstGeom>
          <a:solidFill>
            <a:srgbClr val="050505"/>
          </a:solidFill>
          <a:ln w="12700">
            <a:solidFill>
              <a:srgbClr val="39F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9FF14"/>
                </a:solidFill>
                <a:latin typeface="Consolas"/>
              </a:rPr>
              <a:t>TON Storage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6263640"/>
            <a:ext cx="11731752" cy="228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&gt; All cryptographic operations happen client-side. The TON chain only ever sees content hashes and wallet addresses — never plaintext.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583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12152376" cy="914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07 // 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FFC8"/>
                </a:solidFill>
                <a:latin typeface="Consolas"/>
              </a:rPr>
              <a:t>PROTOTYPE MILESTONES — REAL PROOF ON TESTNET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49039" cy="228600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3282696"/>
            <a:ext cx="3749039" cy="5486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3443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F41"/>
                </a:solidFill>
                <a:latin typeface="Consolas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4028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77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FunC Contract
Deployed to Testnet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051560"/>
            <a:ext cx="3749039" cy="228600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282696"/>
            <a:ext cx="3749039" cy="54864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23443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5FF"/>
                </a:solidFill>
                <a:latin typeface="Consolas"/>
              </a:rPr>
              <a:t>&lt;30min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24028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377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SDK Integration
Time (Demo App)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749039" cy="228600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3282696"/>
            <a:ext cx="3749039" cy="5486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23443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F41"/>
                </a:solidFill>
                <a:latin typeface="Consolas"/>
              </a:rPr>
              <a:t>$0.001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24028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37743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Cost per Memory
Commit on TON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566160"/>
            <a:ext cx="3749039" cy="228600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5797296"/>
            <a:ext cx="3749039" cy="54864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3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5FF"/>
                </a:solidFill>
                <a:latin typeface="Consola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5488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892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Core SDK Functions
Shipped (write/read/diff)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566160"/>
            <a:ext cx="3749039" cy="228600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5797296"/>
            <a:ext cx="3749039" cy="5486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74903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F41"/>
                </a:solidFill>
                <a:latin typeface="Consolas"/>
              </a:rPr>
              <a:t>AES-256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75488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892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Encryption Standard
Client-Side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566160"/>
            <a:ext cx="3749039" cy="2286000"/>
          </a:xfrm>
          <a:prstGeom prst="rect">
            <a:avLst/>
          </a:prstGeom>
          <a:solidFill>
            <a:srgbClr val="060F06"/>
          </a:solidFill>
          <a:ln w="1524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5797296"/>
            <a:ext cx="3749039" cy="54864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749039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F5FF"/>
                </a:solidFill>
                <a:latin typeface="Consolas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475488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892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User Data Sovereignty
No Centralized DB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5989320"/>
            <a:ext cx="11731752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FFC8"/>
                </a:solidFill>
                <a:latin typeface="Calibri"/>
              </a:rPr>
              <a:t>&gt; Prototype shipped Q1 2026. Public beta targeting Q2 2026 mainnet launch with 10 external dev teams onboarded.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" y="0"/>
            <a:ext cx="12152376" cy="91440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1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08 //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FFC8"/>
                </a:solidFill>
                <a:latin typeface="Consolas"/>
              </a:rPr>
              <a:t>THREE PHASES TO PLATFORM DOMINANCE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11731752" cy="73152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781812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914400"/>
            <a:ext cx="347472" cy="34747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548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F41"/>
                </a:solidFill>
                <a:latin typeface="Consolas"/>
              </a:rPr>
              <a:t>Q1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3749039" cy="512064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371600"/>
            <a:ext cx="3749039" cy="41148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444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✓ 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90195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Ship a working prototype of the core memory write/read cycle on TON testnet with client-side encryption.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DELIVERABLES: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73152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4290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FunC smart contract deployed to TON testnet that anchors memory content hashes and emits write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73152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38912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Client-side AES-256-GCM encryption module keyed to TON wallet address with TL-B cell serialization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94960"/>
            <a:ext cx="73152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534924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Proof-of-concept TypeScript SDK with write and read functions tested against a single demo Telegram mini-app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914400"/>
            <a:ext cx="347472" cy="347472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548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F5FF"/>
                </a:solidFill>
                <a:latin typeface="Consolas"/>
              </a:rPr>
              <a:t>Q2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1371600"/>
            <a:ext cx="3749039" cy="5120640"/>
          </a:xfrm>
          <a:prstGeom prst="rect">
            <a:avLst/>
          </a:prstGeom>
          <a:solidFill>
            <a:srgbClr val="060F06"/>
          </a:solidFill>
          <a:ln w="12700">
            <a:solidFill>
              <a:srgbClr val="00F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371600"/>
            <a:ext cx="3749039" cy="41148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1444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5FF"/>
                </a:solidFill>
                <a:latin typeface="Consolas"/>
              </a:rPr>
              <a:t>⟳ IN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190195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Launch public beta SDK on TON mainnet with audit log UI and onboard 10 external mini-app developer teams.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97180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5FF"/>
                </a:solidFill>
                <a:latin typeface="Consolas"/>
              </a:rPr>
              <a:t>DELIVERABLES: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474720"/>
            <a:ext cx="73152" cy="73152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34290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Production FunC contract deployed to TON mainnet with memory versioning, TTL enforcement, and access revocation logic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434840"/>
            <a:ext cx="73152" cy="73152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438912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Full TypeScript SDK release (write, read, diff) published to npm with TON Connect 2.0 wallet auth integration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5394960"/>
            <a:ext cx="73152" cy="73152"/>
          </a:xfrm>
          <a:prstGeom prst="rect">
            <a:avLst/>
          </a:prstGeom>
          <a:solidFill>
            <a:srgbClr val="00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534924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Web-based memory audit dashboard allowing users to inspect per-app write events linked to their TON wallet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914400"/>
            <a:ext cx="347472" cy="347472"/>
          </a:xfrm>
          <a:prstGeom prst="rect">
            <a:avLst/>
          </a:prstGeom>
          <a:solidFill>
            <a:srgbClr val="4A7A4A"/>
          </a:solidFill>
          <a:ln w="12700">
            <a:solidFill>
              <a:srgbClr val="4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5486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7A4A"/>
                </a:solidFill>
                <a:latin typeface="Consolas"/>
              </a:rPr>
              <a:t>Q3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1371600"/>
            <a:ext cx="3749039" cy="5120640"/>
          </a:xfrm>
          <a:prstGeom prst="rect">
            <a:avLst/>
          </a:prstGeom>
          <a:solidFill>
            <a:srgbClr val="060F06"/>
          </a:solidFill>
          <a:ln w="12700">
            <a:solidFill>
              <a:srgbClr val="4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1371600"/>
            <a:ext cx="3749039" cy="411480"/>
          </a:xfrm>
          <a:prstGeom prst="rect">
            <a:avLst/>
          </a:prstGeom>
          <a:solidFill>
            <a:srgbClr val="0D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1444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7A4A"/>
                </a:solidFill>
                <a:latin typeface="Consolas"/>
              </a:rPr>
              <a:t>◦ UPCOMING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90195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C8"/>
                </a:solidFill>
                <a:latin typeface="Calibri"/>
              </a:rPr>
              <a:t>Enable cross-app memory portability with wallet-signed consent and reach 50,000 active memory wallets.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971800"/>
            <a:ext cx="3474720" cy="18288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3090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7A4A"/>
                </a:solidFill>
                <a:latin typeface="Consolas"/>
              </a:rPr>
              <a:t>DELIVERABLES: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474720"/>
            <a:ext cx="73152" cy="73152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8" y="342900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Cross-app memory sharing protocol: wallet-signed consent transactions granting scoped read access to external mini-apps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434840"/>
            <a:ext cx="73152" cy="73152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5048" y="438912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Memory diff and conflict resolution logic in the SDK for multi-app concurrent writes to shared context shards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394960"/>
            <a:ext cx="73152" cy="73152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5048" y="5349240"/>
            <a:ext cx="3291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FFC8"/>
                </a:solidFill>
                <a:latin typeface="Calibri"/>
              </a:rPr>
              <a:t>Developer portal with usage analytics, per-app memory commit counts, and mainnet cost estimator for teams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30568"/>
            <a:ext cx="12188952" cy="2743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52376" y="0"/>
            <a:ext cx="36576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81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55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613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47120" y="18288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317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033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49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81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97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755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613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247120" y="65836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317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175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033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749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7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65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323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181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039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97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755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5613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247120" y="113385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01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459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317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175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033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749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607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465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181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039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897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8755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5613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247120" y="160934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43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01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317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0175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033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891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0749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465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323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181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039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897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755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613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247120" y="208483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743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601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6459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3317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175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7033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891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749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7607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465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1323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8181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5039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897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8755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613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247120" y="256032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743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459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3317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0175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7033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891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0749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7607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4465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1323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8181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5039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1897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8755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5613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47120" y="303580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743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601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6459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3317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0175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7033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891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0749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7607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4465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1323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8181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5039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1897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8755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5613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247120" y="351129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743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601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6459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3317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0175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7033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3891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0749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7607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4465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1323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8181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5039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1897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8755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5613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1247120" y="398678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743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601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6459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3317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0175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7033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3891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0749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7607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4465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23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8181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5039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1897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8755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5613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247120" y="4462272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601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6459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3317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0175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7033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3891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0749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7607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4465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1323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8181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039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897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8755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5613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1247120" y="4937760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2743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601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16459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3317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0175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37033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3891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0749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607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4465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1323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8181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5039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1897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8755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5613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1247120" y="5413248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2743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601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6459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3317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30175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7033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3891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0749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7607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4465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323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8181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5039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1897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8755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5613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247120" y="5888736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2743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601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6459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3317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30175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37033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43891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0749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07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465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1323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8181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5039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1897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8755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5613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1247120" y="6364224"/>
            <a:ext cx="36576" cy="36576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14400" y="731520"/>
            <a:ext cx="10360152" cy="5394960"/>
          </a:xfrm>
          <a:prstGeom prst="rect">
            <a:avLst/>
          </a:prstGeom>
          <a:solidFill>
            <a:srgbClr val="0D1A0D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14400" y="731520"/>
            <a:ext cx="10360152" cy="5486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14400" y="6071616"/>
            <a:ext cx="10360152" cy="54864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188720" y="868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F41"/>
                </a:solidFill>
                <a:latin typeface="Consolas"/>
              </a:rPr>
              <a:t>09 // CALL TO ACTION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188720" y="1325880"/>
            <a:ext cx="9811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A7A4A"/>
                </a:solidFill>
                <a:latin typeface="Consolas"/>
              </a:rPr>
              <a:t>$ memory --status: UNSOLVED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188720" y="1874519"/>
            <a:ext cx="98115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FF41"/>
                </a:solidFill>
                <a:latin typeface="Consolas"/>
              </a:rPr>
              <a:t>$ syncpad --deploy: READY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188720" y="2606040"/>
            <a:ext cx="9811512" cy="3657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188720" y="2743200"/>
            <a:ext cx="98115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C8FFC8"/>
                </a:solidFill>
                <a:latin typeface="Consolas"/>
              </a:rPr>
              <a:t>BE THE MEMORY LAYER
FOR 500 MILLION USERS.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188720" y="4663440"/>
            <a:ext cx="9811512" cy="3657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371600" y="4773168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8FFC8"/>
                </a:solidFill>
                <a:latin typeface="Calibri"/>
              </a:rPr>
              <a:t>Syncpad is raising a pre-seed round to ship the public beta, onboard 10 developer teams, and establish the memory standard for TON mini-apps.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4114800" y="5577840"/>
            <a:ext cx="3959352" cy="548640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114800" y="5632704"/>
            <a:ext cx="3959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0505"/>
                </a:solidFill>
                <a:latin typeface="Consolas"/>
              </a:rPr>
              <a:t>GET IN TOUCH  &gt;  syncpad.ton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972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7A4A"/>
                </a:solidFill>
                <a:latin typeface="Consolas"/>
              </a:rPr>
              <a:t>Founded by AI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400800" y="6492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A7A4A"/>
                </a:solidFill>
                <a:latin typeface="Consolas"/>
              </a:rPr>
              <a:t>$ syncpad --version 0.1.0-prototype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